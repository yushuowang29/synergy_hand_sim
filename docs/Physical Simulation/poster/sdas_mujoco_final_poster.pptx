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5199975" cy="5039995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7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2668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2"/>
    <p:restoredTop sz="94690"/>
  </p:normalViewPr>
  <p:slideViewPr>
    <p:cSldViewPr showGuides="1">
      <p:cViewPr>
        <p:scale>
          <a:sx n="25" d="100"/>
          <a:sy n="25" d="100"/>
        </p:scale>
        <p:origin x="4806" y="-168"/>
      </p:cViewPr>
      <p:guideLst>
        <p:guide orient="horz" pos="15874"/>
        <p:guide pos="7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93356" y="857250"/>
            <a:ext cx="11572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992563" y="857250"/>
            <a:ext cx="1158875" cy="231457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004" y="15656700"/>
            <a:ext cx="21420042" cy="10803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07" y="28560056"/>
            <a:ext cx="17640035" cy="128800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80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359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039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720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399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630" y="32386740"/>
            <a:ext cx="21420042" cy="10010017"/>
          </a:xfrm>
        </p:spPr>
        <p:txBody>
          <a:bodyPr anchor="t"/>
          <a:lstStyle>
            <a:lvl1pPr algn="l">
              <a:defRPr sz="14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630" y="21361715"/>
            <a:ext cx="21420042" cy="11025016"/>
          </a:xfrm>
        </p:spPr>
        <p:txBody>
          <a:bodyPr anchor="b"/>
          <a:lstStyle>
            <a:lvl1pPr marL="0" indent="0">
              <a:buNone/>
              <a:defRPr sz="7350">
                <a:solidFill>
                  <a:schemeClr val="tx1">
                    <a:tint val="75000"/>
                  </a:schemeClr>
                </a:solidFill>
              </a:defRPr>
            </a:lvl1pPr>
            <a:lvl2pPr marL="1680210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35978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3pPr>
            <a:lvl4pPr marL="503999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4pPr>
            <a:lvl5pPr marL="672020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5pPr>
            <a:lvl6pPr marL="839978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002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10025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281695"/>
            <a:ext cx="11134398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002" y="15983362"/>
            <a:ext cx="11134398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278" y="11281695"/>
            <a:ext cx="11138772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278" y="15983362"/>
            <a:ext cx="11138772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05" y="2006666"/>
            <a:ext cx="8290642" cy="8540022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2519" y="2006676"/>
            <a:ext cx="14087528" cy="43015091"/>
          </a:xfrm>
        </p:spPr>
        <p:txBody>
          <a:bodyPr/>
          <a:lstStyle>
            <a:lvl1pPr>
              <a:defRPr sz="11760"/>
            </a:lvl1pPr>
            <a:lvl2pPr>
              <a:defRPr sz="10290"/>
            </a:lvl2pPr>
            <a:lvl3pPr>
              <a:defRPr sz="8820"/>
            </a:lvl3pPr>
            <a:lvl4pPr>
              <a:defRPr sz="7350"/>
            </a:lvl4pPr>
            <a:lvl5pPr>
              <a:defRPr sz="7350"/>
            </a:lvl5pPr>
            <a:lvl6pPr>
              <a:defRPr sz="7350"/>
            </a:lvl6pPr>
            <a:lvl7pPr>
              <a:defRPr sz="7350"/>
            </a:lvl7pPr>
            <a:lvl8pPr>
              <a:defRPr sz="7350"/>
            </a:lvl8pPr>
            <a:lvl9pPr>
              <a:defRPr sz="7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05" y="10546697"/>
            <a:ext cx="8290642" cy="34475069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386" y="35280069"/>
            <a:ext cx="15120030" cy="4165017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386" y="4503340"/>
            <a:ext cx="15120030" cy="30240060"/>
          </a:xfrm>
        </p:spPr>
        <p:txBody>
          <a:bodyPr/>
          <a:lstStyle>
            <a:lvl1pPr marL="0" indent="0">
              <a:buNone/>
              <a:defRPr sz="11760"/>
            </a:lvl1pPr>
            <a:lvl2pPr marL="1680210" indent="0">
              <a:buNone/>
              <a:defRPr sz="10290"/>
            </a:lvl2pPr>
            <a:lvl3pPr marL="3359785" indent="0">
              <a:buNone/>
              <a:defRPr sz="8820"/>
            </a:lvl3pPr>
            <a:lvl4pPr marL="5039995" indent="0">
              <a:buNone/>
              <a:defRPr sz="7350"/>
            </a:lvl4pPr>
            <a:lvl5pPr marL="6720205" indent="0">
              <a:buNone/>
              <a:defRPr sz="7350"/>
            </a:lvl5pPr>
            <a:lvl6pPr marL="8399780" indent="0">
              <a:buNone/>
              <a:defRPr sz="7350"/>
            </a:lvl6pPr>
            <a:lvl7pPr marL="10079990" indent="0">
              <a:buNone/>
              <a:defRPr sz="7350"/>
            </a:lvl7pPr>
            <a:lvl8pPr marL="11760200" indent="0">
              <a:buNone/>
              <a:defRPr sz="7350"/>
            </a:lvl8pPr>
            <a:lvl9pPr marL="13439775" indent="0">
              <a:buNone/>
              <a:defRPr sz="73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386" y="39445076"/>
            <a:ext cx="15120030" cy="5915013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0036" y="2018346"/>
            <a:ext cx="5670011" cy="4300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002" y="2018346"/>
            <a:ext cx="16590033" cy="4300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0002" y="2018346"/>
            <a:ext cx="22680045" cy="840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760033"/>
            <a:ext cx="22680045" cy="3326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002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017" y="46713430"/>
            <a:ext cx="7980016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0036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359785" rtl="0" eaLnBrk="1" latinLnBrk="0" hangingPunct="1">
        <a:spcBef>
          <a:spcPct val="0"/>
        </a:spcBef>
        <a:buNone/>
        <a:defRPr sz="16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9840" indent="-1259840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729865" indent="-1050290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10290" kern="1200">
          <a:solidFill>
            <a:schemeClr val="tx1"/>
          </a:solidFill>
          <a:latin typeface="+mn-lt"/>
          <a:ea typeface="+mn-ea"/>
          <a:cs typeface="+mn-cs"/>
        </a:defRPr>
      </a:lvl2pPr>
      <a:lvl3pPr marL="419989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3pPr>
      <a:lvl4pPr marL="588010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7350" kern="1200">
          <a:solidFill>
            <a:schemeClr val="tx1"/>
          </a:solidFill>
          <a:latin typeface="+mn-lt"/>
          <a:ea typeface="+mn-ea"/>
          <a:cs typeface="+mn-cs"/>
        </a:defRPr>
      </a:lvl4pPr>
      <a:lvl5pPr marL="756031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»"/>
        <a:defRPr sz="7350" kern="1200">
          <a:solidFill>
            <a:schemeClr val="tx1"/>
          </a:solidFill>
          <a:latin typeface="+mn-lt"/>
          <a:ea typeface="+mn-ea"/>
          <a:cs typeface="+mn-cs"/>
        </a:defRPr>
      </a:lvl5pPr>
      <a:lvl6pPr marL="923988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6pPr>
      <a:lvl7pPr marL="1092009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30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8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8021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5978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2020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39978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7999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6020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77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635"/>
            <a:ext cx="25198070" cy="503986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F5B4E8-0C62-64D5-523B-879B9DB760FD}"/>
              </a:ext>
            </a:extLst>
          </p:cNvPr>
          <p:cNvSpPr txBox="1"/>
          <p:nvPr/>
        </p:nvSpPr>
        <p:spPr>
          <a:xfrm>
            <a:off x="5246370" y="3787775"/>
            <a:ext cx="1470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4100">
                <a:solidFill>
                  <a:srgbClr val="191F24"/>
                </a:solidFill>
                <a:latin typeface="+mj-lt"/>
              </a:rPr>
              <a:t>MuJoCo Numerical Simulation Framework for SDAS Hands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2C9550-7DAF-9B08-68FD-9E09FBAAD5AD}"/>
              </a:ext>
            </a:extLst>
          </p:cNvPr>
          <p:cNvSpPr txBox="1"/>
          <p:nvPr/>
        </p:nvSpPr>
        <p:spPr>
          <a:xfrm>
            <a:off x="5246370" y="4803438"/>
            <a:ext cx="1470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200">
                <a:solidFill>
                  <a:srgbClr val="495258"/>
                </a:solidFill>
                <a:latin typeface="+mj-lt"/>
              </a:rPr>
              <a:t>Yushuo Wang | Synergy Hand Simulation | Physical Simulation Final Poster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A52D19-44B5-D3B3-6DDE-D34C32BB69BF}"/>
              </a:ext>
            </a:extLst>
          </p:cNvPr>
          <p:cNvSpPr/>
          <p:nvPr/>
        </p:nvSpPr>
        <p:spPr>
          <a:xfrm>
            <a:off x="407987" y="6149975"/>
            <a:ext cx="11963400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DB069C-1F51-A63A-9477-7000E17F9218}"/>
              </a:ext>
            </a:extLst>
          </p:cNvPr>
          <p:cNvSpPr/>
          <p:nvPr/>
        </p:nvSpPr>
        <p:spPr>
          <a:xfrm>
            <a:off x="12828589" y="6149975"/>
            <a:ext cx="11929108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D4769-A88D-5030-6B38-FE2CEC3019C9}"/>
              </a:ext>
            </a:extLst>
          </p:cNvPr>
          <p:cNvSpPr txBox="1"/>
          <p:nvPr/>
        </p:nvSpPr>
        <p:spPr>
          <a:xfrm>
            <a:off x="788987" y="6276162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91F24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Problem Statement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7E309D-A351-4442-747C-1F3A62AE8107}"/>
              </a:ext>
            </a:extLst>
          </p:cNvPr>
          <p:cNvSpPr txBox="1"/>
          <p:nvPr/>
        </p:nvSpPr>
        <p:spPr>
          <a:xfrm>
            <a:off x="788987" y="24876809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91F24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Literature Review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E524F7-6515-40D9-0477-105D02A32491}"/>
              </a:ext>
            </a:extLst>
          </p:cNvPr>
          <p:cNvSpPr txBox="1"/>
          <p:nvPr/>
        </p:nvSpPr>
        <p:spPr>
          <a:xfrm>
            <a:off x="13189109" y="6299617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91F24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Methodology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7C94A5-7D91-1227-1BC2-5E023460B080}"/>
              </a:ext>
            </a:extLst>
          </p:cNvPr>
          <p:cNvSpPr txBox="1"/>
          <p:nvPr/>
        </p:nvSpPr>
        <p:spPr>
          <a:xfrm>
            <a:off x="13189109" y="202469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91F24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Experimental Results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1F9E91-0586-8DFC-CB6C-F4E5159DFA26}"/>
              </a:ext>
            </a:extLst>
          </p:cNvPr>
          <p:cNvSpPr txBox="1"/>
          <p:nvPr/>
        </p:nvSpPr>
        <p:spPr>
          <a:xfrm>
            <a:off x="13189109" y="392207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191F24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Conclusion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903720"/>
            <a:ext cx="1069848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100" b="1">
                <a:solidFill>
                  <a:srgbClr val="18608A"/>
                </a:solidFill>
                <a:latin typeface="Malgun Gothic"/>
              </a:defRPr>
            </a:pPr>
            <a:r>
              <a:t>Goal: replace geometry playback with MuJoCo numerical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8915400"/>
            <a:ext cx="10744200" cy="3840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20" b="0">
                <a:solidFill>
                  <a:srgbClr val="191F24"/>
                </a:solidFill>
                <a:latin typeface="Malgun Gothic"/>
              </a:defRPr>
            </a:pPr>
            <a:r>
              <a:t>Inputs: .ohd simulation definition, hand model path, time step, duration, driver time series, and distribution type.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20" b="0">
                <a:solidFill>
                  <a:srgbClr val="191F24"/>
                </a:solidFill>
                <a:latin typeface="Malgun Gothic"/>
              </a:defRPr>
            </a:pPr>
            <a:r>
              <a:t>Outputs: joint trajectories, target-vs-state error, contact count log, generated MJCF audit file, and rendered MuJoCo screenshots.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20" b="0">
                <a:solidFill>
                  <a:srgbClr val="191F24"/>
                </a:solidFill>
                <a:latin typeface="Malgun Gothic"/>
              </a:defRPr>
            </a:pPr>
            <a:r>
              <a:t>Constraint: the upgraded physics path must not include damper elements, viscous joint terms, tendon velocity friction, or hand-written -D qdot forces.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3304520"/>
            <a:ext cx="10241280" cy="4251960"/>
          </a:xfrm>
          <a:prstGeom prst="rect">
            <a:avLst/>
          </a:prstGeom>
          <a:solidFill>
            <a:srgbClr val="F5F7F8"/>
          </a:solidFill>
          <a:ln w="12700">
            <a:solidFill>
              <a:srgbClr val="B7B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624560"/>
            <a:ext cx="9784080" cy="3474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1">
                <a:solidFill>
                  <a:srgbClr val="191F24"/>
                </a:solidFill>
                <a:latin typeface="Malgun Gothic"/>
              </a:defRPr>
            </a:pPr>
            <a:r>
              <a:t>Why geometry was insufficient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The previous viewer directly assigned qpos from the synergy solver. It showed the intended pose, but skipped inertia, joint limits, MuJoCo constraints, and time evolution.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The new path treats the geometry solution as q_ref and lets MuJoCo integrate the actual q(t).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8288000"/>
            <a:ext cx="10744200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20" b="1">
                <a:solidFill>
                  <a:srgbClr val="191F24"/>
                </a:solidFill>
                <a:latin typeface="Malgun Gothic"/>
              </a:defRPr>
            </a:pPr>
            <a:r>
              <a:t>Success criteria implemented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20" b="0">
                <a:solidFill>
                  <a:srgbClr val="191F24"/>
                </a:solidFill>
                <a:latin typeface="Malgun Gothic"/>
              </a:defRPr>
            </a:pPr>
            <a:r>
              <a:t>1. .ohd file drives MuJoCo with time-varying driver inputs.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20" b="0">
                <a:solidFill>
                  <a:srgbClr val="191F24"/>
                </a:solidFill>
                <a:latin typeface="Malgun Gothic"/>
              </a:defRPr>
            </a:pPr>
            <a:r>
              <a:t>2. SDAS maps low-dimensional drivers into joint-space references.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20" b="0">
                <a:solidFill>
                  <a:srgbClr val="191F24"/>
                </a:solidFill>
                <a:latin typeface="Malgun Gothic"/>
              </a:defRPr>
            </a:pPr>
            <a:r>
              <a:t>3. No damping/damper/velocity actuator terms appear in generated MJCF.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20" b="0">
                <a:solidFill>
                  <a:srgbClr val="191F24"/>
                </a:solidFill>
                <a:latin typeface="Malgun Gothic"/>
              </a:defRPr>
            </a:pPr>
            <a:r>
              <a:t>4. At least two rendered postures and a geometry-vs-numerical comparison are generated automatically.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603200"/>
            <a:ext cx="1065276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39" b="1">
                <a:solidFill>
                  <a:srgbClr val="18608A"/>
                </a:solidFill>
                <a:latin typeface="Malgun Gothic"/>
              </a:defRPr>
            </a:pPr>
            <a:r>
              <a:t>SoftHand 2 provides the numerical-model motivation, while SDAS provides this project's no-damper transmission abstraction.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346400"/>
            <a:ext cx="10241280" cy="5623560"/>
          </a:xfrm>
          <a:prstGeom prst="rect">
            <a:avLst/>
          </a:prstGeom>
          <a:solidFill>
            <a:srgbClr val="F5F7F8"/>
          </a:solidFill>
          <a:ln w="12700">
            <a:solidFill>
              <a:srgbClr val="B7B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8666440"/>
            <a:ext cx="9921240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00" b="1">
                <a:solidFill>
                  <a:srgbClr val="191F24"/>
                </a:solidFill>
                <a:latin typeface="Malgun Gothic"/>
              </a:defRPr>
            </a:pPr>
            <a:r>
              <a:t>Key equations retained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Postural synergy: q = S sigma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Adaptive transmission: R q = x,    tau = R^T tau_M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Free-motion mapping: S_R = E^-1 R^T (R E^-1 R^T)^-1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00" b="0">
                <a:solidFill>
                  <a:srgbClr val="191F24"/>
                </a:solidFill>
                <a:latin typeface="Malgun Gothic"/>
              </a:defRPr>
            </a:pPr>
            <a:r>
              <a:t>MuJoCo target: q_ref(t) = B_sigma sigma(t)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4564320"/>
            <a:ext cx="10241280" cy="5486400"/>
          </a:xfrm>
          <a:prstGeom prst="rect">
            <a:avLst/>
          </a:prstGeom>
          <a:noFill/>
          <a:ln w="12700">
            <a:solidFill>
              <a:srgbClr val="DA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4884360"/>
            <a:ext cx="9921240" cy="4892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70" b="1">
                <a:solidFill>
                  <a:srgbClr val="191F24"/>
                </a:solidFill>
                <a:latin typeface="Malgun Gothic"/>
              </a:defRPr>
            </a:pPr>
            <a:r>
              <a:t>Terms intentionally excluded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70" b="0">
                <a:solidFill>
                  <a:srgbClr val="191F24"/>
                </a:solidFill>
                <a:latin typeface="Malgun Gothic"/>
              </a:defRPr>
            </a:pPr>
            <a:r>
              <a:t>No joint viscous friction F qdot.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70" b="0">
                <a:solidFill>
                  <a:srgbClr val="191F24"/>
                </a:solidFill>
                <a:latin typeface="Malgun Gothic"/>
              </a:defRPr>
            </a:pPr>
            <a:r>
              <a:t>No tendon viscous friction or sliding-speed friction state.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70" b="0">
                <a:solidFill>
                  <a:srgbClr val="191F24"/>
                </a:solidFill>
                <a:latin typeface="Malgun Gothic"/>
              </a:defRPr>
            </a:pPr>
            <a:r>
              <a:t>No damper transmissions or dynamic-synergy damper model.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70" b="0">
                <a:solidFill>
                  <a:srgbClr val="191F24"/>
                </a:solidFill>
                <a:latin typeface="Malgun Gothic"/>
              </a:defRPr>
            </a:pPr>
            <a:r>
              <a:t>No PD/PI velocity feedback; position tracking uses only Kp(q_ref - q).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462200"/>
            <a:ext cx="10652760" cy="3474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20" b="1">
                <a:solidFill>
                  <a:srgbClr val="191F24"/>
                </a:solidFill>
                <a:latin typeface="Malgun Gothic"/>
              </a:defRPr>
            </a:pPr>
            <a:r>
              <a:t>SDAS interpretation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720" b="0">
                <a:solidFill>
                  <a:srgbClr val="191F24"/>
                </a:solidFill>
                <a:latin typeface="Malgun Gothic"/>
              </a:defRPr>
            </a:pPr>
            <a:r>
              <a:t>Dual-ended tendon routing gives two path-dependent transmission vectors R_A and R_B. Their Schur-complement solution yields common-mode closure and differential reconfiguration without adding damper hardware.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0" y="6903720"/>
            <a:ext cx="1060704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2020" b="1">
                <a:solidFill>
                  <a:srgbClr val="18608A"/>
                </a:solidFill>
                <a:latin typeface="Malgun Gothic"/>
              </a:defRPr>
            </a:pPr>
            <a:r>
              <a:t>Three-layer interface: distribution -&gt; driver command -&gt; MuJoCo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030200" y="8549640"/>
            <a:ext cx="2331720" cy="2240280"/>
          </a:xfrm>
          <a:prstGeom prst="rect">
            <a:avLst/>
          </a:prstGeom>
          <a:solidFill>
            <a:srgbClr val="E8F1F6"/>
          </a:solidFill>
          <a:ln w="12700">
            <a:solidFill>
              <a:srgbClr val="7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39928" y="8778240"/>
            <a:ext cx="2112263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 b="1">
                <a:solidFill>
                  <a:srgbClr val="191F24"/>
                </a:solidFill>
                <a:latin typeface="Malgun Gothic"/>
              </a:defRPr>
            </a:pPr>
            <a:r>
              <a:t>SoftHand 2</a:t>
            </a:r>
            <a:br/>
            <a:r>
              <a:t>Eq. 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39928" y="9784080"/>
            <a:ext cx="2112263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50" b="0">
                <a:solidFill>
                  <a:srgbClr val="495258"/>
                </a:solidFill>
                <a:latin typeface="Malgun Gothic"/>
              </a:defRPr>
            </a:pPr>
            <a:r>
              <a:t>Dynamics</a:t>
            </a:r>
            <a:br/>
            <a:r>
              <a:t>structure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453360" y="9669780"/>
            <a:ext cx="182880" cy="0"/>
          </a:xfrm>
          <a:prstGeom prst="line">
            <a:avLst/>
          </a:prstGeom>
          <a:ln w="25400">
            <a:solidFill>
              <a:srgbClr val="D57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727680" y="8549640"/>
            <a:ext cx="2331720" cy="2240280"/>
          </a:xfrm>
          <a:prstGeom prst="rect">
            <a:avLst/>
          </a:prstGeom>
          <a:solidFill>
            <a:srgbClr val="E8F1F6"/>
          </a:solidFill>
          <a:ln w="12700">
            <a:solidFill>
              <a:srgbClr val="7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837408" y="8778240"/>
            <a:ext cx="2112263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 b="1">
                <a:solidFill>
                  <a:srgbClr val="191F24"/>
                </a:solidFill>
                <a:latin typeface="Malgun Gothic"/>
              </a:defRPr>
            </a:pPr>
            <a:r>
              <a:t>SDAS</a:t>
            </a:r>
            <a:br/>
            <a:r>
              <a:t>Schur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37408" y="9784080"/>
            <a:ext cx="2112263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50" b="0">
                <a:solidFill>
                  <a:srgbClr val="495258"/>
                </a:solidFill>
                <a:latin typeface="Malgun Gothic"/>
              </a:defRPr>
            </a:pPr>
            <a:r>
              <a:t>B_sigma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150840" y="9669780"/>
            <a:ext cx="182880" cy="0"/>
          </a:xfrm>
          <a:prstGeom prst="line">
            <a:avLst/>
          </a:prstGeom>
          <a:ln w="25400">
            <a:solidFill>
              <a:srgbClr val="D57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8425160" y="8549640"/>
            <a:ext cx="2331720" cy="2240280"/>
          </a:xfrm>
          <a:prstGeom prst="rect">
            <a:avLst/>
          </a:prstGeom>
          <a:solidFill>
            <a:srgbClr val="E8F1F6"/>
          </a:solidFill>
          <a:ln w="12700">
            <a:solidFill>
              <a:srgbClr val="7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534888" y="8778240"/>
            <a:ext cx="2112263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 b="1">
                <a:solidFill>
                  <a:srgbClr val="191F24"/>
                </a:solidFill>
                <a:latin typeface="Malgun Gothic"/>
              </a:defRPr>
            </a:pPr>
            <a:r>
              <a:t>.ohd</a:t>
            </a:r>
            <a:br/>
            <a:r>
              <a:t>time series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34888" y="9784080"/>
            <a:ext cx="2112263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50" b="0">
                <a:solidFill>
                  <a:srgbClr val="495258"/>
                </a:solidFill>
                <a:latin typeface="Malgun Gothic"/>
              </a:defRPr>
            </a:pPr>
            <a:r>
              <a:t>sigma(t)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848320" y="9669780"/>
            <a:ext cx="182880" cy="0"/>
          </a:xfrm>
          <a:prstGeom prst="line">
            <a:avLst/>
          </a:prstGeom>
          <a:ln w="25400">
            <a:solidFill>
              <a:srgbClr val="D57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22640" y="8549640"/>
            <a:ext cx="2331720" cy="2240280"/>
          </a:xfrm>
          <a:prstGeom prst="rect">
            <a:avLst/>
          </a:prstGeom>
          <a:solidFill>
            <a:srgbClr val="F2ECE5"/>
          </a:solidFill>
          <a:ln w="12700">
            <a:solidFill>
              <a:srgbClr val="748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232368" y="8778240"/>
            <a:ext cx="2112263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50" b="1">
                <a:solidFill>
                  <a:srgbClr val="191F24"/>
                </a:solidFill>
                <a:latin typeface="Malgun Gothic"/>
              </a:defRPr>
            </a:pPr>
            <a:r>
              <a:t>MuJoCo</a:t>
            </a:r>
            <a:br/>
            <a:r>
              <a:t>mj_step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32368" y="9784080"/>
            <a:ext cx="2112263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50" b="0">
                <a:solidFill>
                  <a:srgbClr val="495258"/>
                </a:solidFill>
                <a:latin typeface="Malgun Gothic"/>
              </a:defRPr>
            </a:pPr>
            <a:r>
              <a:t>q(t), logs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0" y="11795760"/>
            <a:ext cx="10652760" cy="4754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39" b="1">
                <a:solidFill>
                  <a:srgbClr val="191F24"/>
                </a:solidFill>
                <a:latin typeface="Malgun Gothic"/>
              </a:defRPr>
            </a:pPr>
            <a:r>
              <a:t>Numerical control law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39" b="0">
                <a:solidFill>
                  <a:srgbClr val="191F24"/>
                </a:solidFill>
                <a:latin typeface="Malgun Gothic"/>
              </a:defRPr>
            </a:pPr>
            <a:r>
              <a:t>1. Interpolate each driver sample at time 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39" b="0">
                <a:solidFill>
                  <a:srgbClr val="191F24"/>
                </a:solidFill>
                <a:latin typeface="Malgun Gothic"/>
              </a:defRPr>
            </a:pPr>
            <a:r>
              <a:t>2. Position inputs set sigma; velocity inputs integrate into sigma; force inputs map directly to joint generalized forces.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39" b="0">
                <a:solidFill>
                  <a:srgbClr val="191F24"/>
                </a:solidFill>
                <a:latin typeface="Malgun Gothic"/>
              </a:defRPr>
            </a:pPr>
            <a:r>
              <a:t>3. Compute q_ref = B_sigma sigma.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39" b="0">
                <a:solidFill>
                  <a:srgbClr val="191F24"/>
                </a:solidFill>
                <a:latin typeface="Malgun Gothic"/>
              </a:defRPr>
            </a:pPr>
            <a:r>
              <a:t>4. Apply tau = Kp(q_ref - q) + force_scale B_sigma f_sigma.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39" b="0">
                <a:solidFill>
                  <a:srgbClr val="191F24"/>
                </a:solidFill>
                <a:latin typeface="Malgun Gothic"/>
              </a:defRPr>
            </a:pPr>
            <a:r>
              <a:t>5. Advance only with MuJoCo mj_step; save q, q_ref, qdot, tau, and ncon.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030200" y="16596359"/>
            <a:ext cx="10287000" cy="2240280"/>
          </a:xfrm>
          <a:prstGeom prst="rect">
            <a:avLst/>
          </a:prstGeom>
          <a:solidFill>
            <a:srgbClr val="F5F7F8"/>
          </a:solidFill>
          <a:ln w="12700">
            <a:solidFill>
              <a:srgbClr val="B7B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13080" y="16870680"/>
            <a:ext cx="987552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20" b="1">
                <a:solidFill>
                  <a:srgbClr val="191F24"/>
                </a:solidFill>
                <a:latin typeface="Malgun Gothic"/>
              </a:defRPr>
            </a:pPr>
            <a:r>
              <a:t>Implemented user entry point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20" b="0">
                <a:solidFill>
                  <a:srgbClr val="191F24"/>
                </a:solidFill>
                <a:latin typeface="Malgun Gothic"/>
              </a:defRPr>
            </a:pPr>
            <a:r>
              <a:t>python scripts/run_mujoco_sdas.py "models/ohd test/mujoco_sdas_step.ohd"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0" y="20985480"/>
            <a:ext cx="1060704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720" b="1">
                <a:solidFill>
                  <a:srgbClr val="18608A"/>
                </a:solidFill>
                <a:latin typeface="Malgun Gothic"/>
              </a:defRPr>
            </a:pPr>
            <a:r>
              <a:t>Demo: three-finger gripper B, SDAS distribution, two time-varying drivers.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984480" y="22082760"/>
            <a:ext cx="5074920" cy="3840480"/>
          </a:xfrm>
          <a:prstGeom prst="rect">
            <a:avLst/>
          </a:prstGeom>
          <a:solidFill>
            <a:srgbClr val="14181A"/>
          </a:solidFill>
          <a:ln w="12700">
            <a:solidFill>
              <a:srgbClr val="50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ujoco_sdas_step_t0.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8488" y="22146768"/>
            <a:ext cx="4946904" cy="34747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30200" y="25648920"/>
            <a:ext cx="49834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495258"/>
                </a:solidFill>
                <a:latin typeface="Malgun Gothic"/>
              </a:defRPr>
            </a:pPr>
            <a:r>
              <a:t>t = 0.35 s: common-mode closure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333720" y="22082760"/>
            <a:ext cx="5074920" cy="3840480"/>
          </a:xfrm>
          <a:prstGeom prst="rect">
            <a:avLst/>
          </a:prstGeom>
          <a:solidFill>
            <a:srgbClr val="14181A"/>
          </a:solidFill>
          <a:ln w="12700">
            <a:solidFill>
              <a:srgbClr val="505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mujoco_sdas_step_t1.0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7728" y="22146768"/>
            <a:ext cx="4946904" cy="34747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8379440" y="25648920"/>
            <a:ext cx="498348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495258"/>
                </a:solidFill>
                <a:latin typeface="Malgun Gothic"/>
              </a:defRPr>
            </a:pPr>
            <a:r>
              <a:t>t = 1.05 s: differential SDAS posture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984480" y="26517600"/>
            <a:ext cx="10424160" cy="6858000"/>
          </a:xfrm>
          <a:prstGeom prst="rect">
            <a:avLst/>
          </a:prstGeom>
          <a:solidFill>
            <a:srgbClr val="FAFAFA"/>
          </a:solidFill>
          <a:ln w="12700">
            <a:solidFill>
              <a:srgbClr val="B7B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mujoco_sdas_step_geometry_vs_mujo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1640" y="26746200"/>
            <a:ext cx="10149840" cy="645898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3030200" y="33238440"/>
            <a:ext cx="1033272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495258"/>
                </a:solidFill>
                <a:latin typeface="Malgun Gothic"/>
              </a:defRPr>
            </a:pPr>
            <a:r>
              <a:t>Geometry target q_ref (dashed) versus MuJoCo state q(t), plus RMS difference.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030200" y="34061400"/>
            <a:ext cx="10469880" cy="2880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570" b="1">
                <a:solidFill>
                  <a:srgbClr val="191F24"/>
                </a:solidFill>
                <a:latin typeface="Malgun Gothic"/>
              </a:defRPr>
            </a:pPr>
            <a:r>
              <a:t>Quantitative check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70" b="0">
                <a:solidFill>
                  <a:srgbClr val="191F24"/>
                </a:solidFill>
                <a:latin typeface="Malgun Gothic"/>
              </a:defRPr>
            </a:pPr>
            <a:r>
              <a:t>600 MuJoCo steps at dt = 0.002 s; 9 hinge joints; 2 SDAS drivers.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70" b="0">
                <a:solidFill>
                  <a:srgbClr val="191F24"/>
                </a:solidFill>
                <a:latin typeface="Malgun Gothic"/>
              </a:defRPr>
            </a:pPr>
            <a:r>
              <a:t>RMS target-state difference = 0.1848 rad; max absolute difference = 0.5661 rad.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570" b="0">
                <a:solidFill>
                  <a:srgbClr val="191F24"/>
                </a:solidFill>
                <a:latin typeface="Malgun Gothic"/>
              </a:defRPr>
            </a:pPr>
            <a:r>
              <a:t>Generated MJCF audit: no damping, damper, or velocity actuator terms.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984480" y="40005000"/>
            <a:ext cx="10652760" cy="4663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60" b="1">
                <a:solidFill>
                  <a:srgbClr val="191F24"/>
                </a:solidFill>
                <a:latin typeface="Malgun Gothic"/>
              </a:defRPr>
            </a:pPr>
            <a:r>
              <a:t>Outcome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60" b="0">
                <a:solidFill>
                  <a:srgbClr val="191F24"/>
                </a:solidFill>
                <a:latin typeface="Malgun Gothic"/>
              </a:defRPr>
            </a:pPr>
            <a:r>
              <a:t>The project now supports an .ohd-driven MuJoCo numerical simulation path that preserves SDAS synergy mapping while removing damper-related computations.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60" b="0">
                <a:solidFill>
                  <a:srgbClr val="191F24"/>
                </a:solidFill>
                <a:latin typeface="Malgun Gothic"/>
              </a:defRPr>
            </a:pPr>
            <a:r>
              <a:t>The interface separates model, driver sequence, distribution type, numerical settings, and output assets, making repeated experiments reproducible.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60" b="0">
                <a:solidFill>
                  <a:srgbClr val="191F24"/>
                </a:solidFill>
                <a:latin typeface="Malgun Gothic"/>
              </a:defRPr>
            </a:pPr>
            <a:r>
              <a:t>Next engineering step: extend endpoint distributions to task-space objectives and add optional contact-force postprocessing when grasp objects are introduced.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44897040"/>
            <a:ext cx="22860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 b="0">
                <a:solidFill>
                  <a:srgbClr val="495258"/>
                </a:solidFill>
                <a:latin typeface="Malgun Gothic"/>
              </a:defRPr>
            </a:pPr>
            <a:r>
              <a:t>Sources: Della Santina et al., IEEE TRO 2018; project SDAS derivation; synergy_hand_sim MuJoCo SDAS demo run on 2026-06-03.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平衡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</Words>
  <Application>Microsoft Office PowerPoint</Application>
  <PresentationFormat>自定义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IIIS</dc:creator>
  <cp:lastModifiedBy>昌宇 胡</cp:lastModifiedBy>
  <cp:revision>91</cp:revision>
  <dcterms:created xsi:type="dcterms:W3CDTF">2006-08-16T00:00:00Z</dcterms:created>
  <dcterms:modified xsi:type="dcterms:W3CDTF">2026-05-23T12:23:31Z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34FABD016C6C4E9690A9762634A53895_13</vt:lpwstr>
  </property>
  <property fmtid="{D5CDD505-2E9C-101B-9397-08002B2CF9AE}" pid="3" name="KSOProductBuildVer">
    <vt:lpwstr>2052-12.1.0.23542</vt:lpwstr>
  </property>
</Properties>
</file>