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5199975" cy="5039995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 userDrawn="1">
          <p15:clr>
            <a:srgbClr val="A4A3A4"/>
          </p15:clr>
        </p15:guide>
        <p15:guide id="2" pos="79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2668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2"/>
    <p:restoredTop sz="94690"/>
  </p:normalViewPr>
  <p:slideViewPr>
    <p:cSldViewPr showGuides="1">
      <p:cViewPr>
        <p:scale>
          <a:sx n="25" d="100"/>
          <a:sy n="25" d="100"/>
        </p:scale>
        <p:origin x="4806" y="-168"/>
      </p:cViewPr>
      <p:guideLst>
        <p:guide orient="horz" pos="15874"/>
        <p:guide pos="79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93356" y="857250"/>
            <a:ext cx="1157288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992563" y="857250"/>
            <a:ext cx="1158875" cy="231457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004" y="15656700"/>
            <a:ext cx="21420042" cy="10803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07" y="28560056"/>
            <a:ext cx="17640035" cy="128800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80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359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039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720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399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630" y="32386740"/>
            <a:ext cx="21420042" cy="10010017"/>
          </a:xfrm>
        </p:spPr>
        <p:txBody>
          <a:bodyPr anchor="t"/>
          <a:lstStyle>
            <a:lvl1pPr algn="l">
              <a:defRPr sz="14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630" y="21361715"/>
            <a:ext cx="21420042" cy="11025016"/>
          </a:xfrm>
        </p:spPr>
        <p:txBody>
          <a:bodyPr anchor="b"/>
          <a:lstStyle>
            <a:lvl1pPr marL="0" indent="0">
              <a:buNone/>
              <a:defRPr sz="7350">
                <a:solidFill>
                  <a:schemeClr val="tx1">
                    <a:tint val="75000"/>
                  </a:schemeClr>
                </a:solidFill>
              </a:defRPr>
            </a:lvl1pPr>
            <a:lvl2pPr marL="1680210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2pPr>
            <a:lvl3pPr marL="335978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3pPr>
            <a:lvl4pPr marL="503999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4pPr>
            <a:lvl5pPr marL="672020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5pPr>
            <a:lvl6pPr marL="839978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002" y="11760033"/>
            <a:ext cx="11130022" cy="33261733"/>
          </a:xfrm>
        </p:spPr>
        <p:txBody>
          <a:bodyPr/>
          <a:lstStyle>
            <a:lvl1pPr>
              <a:defRPr sz="10290"/>
            </a:lvl1pPr>
            <a:lvl2pPr>
              <a:defRPr sz="8820"/>
            </a:lvl2pPr>
            <a:lvl3pPr>
              <a:defRPr sz="7350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10025" y="11760033"/>
            <a:ext cx="11130022" cy="33261733"/>
          </a:xfrm>
        </p:spPr>
        <p:txBody>
          <a:bodyPr/>
          <a:lstStyle>
            <a:lvl1pPr>
              <a:defRPr sz="10290"/>
            </a:lvl1pPr>
            <a:lvl2pPr>
              <a:defRPr sz="8820"/>
            </a:lvl2pPr>
            <a:lvl3pPr>
              <a:defRPr sz="7350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2" y="11281695"/>
            <a:ext cx="11134398" cy="4701677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002" y="15983362"/>
            <a:ext cx="11134398" cy="29038394"/>
          </a:xfrm>
        </p:spPr>
        <p:txBody>
          <a:bodyPr/>
          <a:lstStyle>
            <a:lvl1pPr>
              <a:defRPr sz="8820"/>
            </a:lvl1pPr>
            <a:lvl2pPr>
              <a:defRPr sz="7350"/>
            </a:lvl2pPr>
            <a:lvl3pPr>
              <a:defRPr sz="6615"/>
            </a:lvl3pPr>
            <a:lvl4pPr>
              <a:defRPr sz="5880"/>
            </a:lvl4pPr>
            <a:lvl5pPr>
              <a:defRPr sz="5880"/>
            </a:lvl5pPr>
            <a:lvl6pPr>
              <a:defRPr sz="5880"/>
            </a:lvl6pPr>
            <a:lvl7pPr>
              <a:defRPr sz="5880"/>
            </a:lvl7pPr>
            <a:lvl8pPr>
              <a:defRPr sz="5880"/>
            </a:lvl8pPr>
            <a:lvl9pPr>
              <a:defRPr sz="5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278" y="11281695"/>
            <a:ext cx="11138772" cy="4701677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278" y="15983362"/>
            <a:ext cx="11138772" cy="29038394"/>
          </a:xfrm>
        </p:spPr>
        <p:txBody>
          <a:bodyPr/>
          <a:lstStyle>
            <a:lvl1pPr>
              <a:defRPr sz="8820"/>
            </a:lvl1pPr>
            <a:lvl2pPr>
              <a:defRPr sz="7350"/>
            </a:lvl2pPr>
            <a:lvl3pPr>
              <a:defRPr sz="6615"/>
            </a:lvl3pPr>
            <a:lvl4pPr>
              <a:defRPr sz="5880"/>
            </a:lvl4pPr>
            <a:lvl5pPr>
              <a:defRPr sz="5880"/>
            </a:lvl5pPr>
            <a:lvl6pPr>
              <a:defRPr sz="5880"/>
            </a:lvl6pPr>
            <a:lvl7pPr>
              <a:defRPr sz="5880"/>
            </a:lvl7pPr>
            <a:lvl8pPr>
              <a:defRPr sz="5880"/>
            </a:lvl8pPr>
            <a:lvl9pPr>
              <a:defRPr sz="5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05" y="2006666"/>
            <a:ext cx="8290642" cy="8540022"/>
          </a:xfrm>
        </p:spPr>
        <p:txBody>
          <a:bodyPr anchor="b"/>
          <a:lstStyle>
            <a:lvl1pPr algn="l">
              <a:defRPr sz="73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2519" y="2006676"/>
            <a:ext cx="14087528" cy="43015091"/>
          </a:xfrm>
        </p:spPr>
        <p:txBody>
          <a:bodyPr/>
          <a:lstStyle>
            <a:lvl1pPr>
              <a:defRPr sz="11760"/>
            </a:lvl1pPr>
            <a:lvl2pPr>
              <a:defRPr sz="10290"/>
            </a:lvl2pPr>
            <a:lvl3pPr>
              <a:defRPr sz="8820"/>
            </a:lvl3pPr>
            <a:lvl4pPr>
              <a:defRPr sz="7350"/>
            </a:lvl4pPr>
            <a:lvl5pPr>
              <a:defRPr sz="7350"/>
            </a:lvl5pPr>
            <a:lvl6pPr>
              <a:defRPr sz="7350"/>
            </a:lvl6pPr>
            <a:lvl7pPr>
              <a:defRPr sz="7350"/>
            </a:lvl7pPr>
            <a:lvl8pPr>
              <a:defRPr sz="7350"/>
            </a:lvl8pPr>
            <a:lvl9pPr>
              <a:defRPr sz="7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005" y="10546697"/>
            <a:ext cx="8290642" cy="34475069"/>
          </a:xfrm>
        </p:spPr>
        <p:txBody>
          <a:bodyPr/>
          <a:lstStyle>
            <a:lvl1pPr marL="0" indent="0">
              <a:buNone/>
              <a:defRPr sz="5145"/>
            </a:lvl1pPr>
            <a:lvl2pPr marL="1680210" indent="0">
              <a:buNone/>
              <a:defRPr sz="4410"/>
            </a:lvl2pPr>
            <a:lvl3pPr marL="3359785" indent="0">
              <a:buNone/>
              <a:defRPr sz="3675"/>
            </a:lvl3pPr>
            <a:lvl4pPr marL="5039995" indent="0">
              <a:buNone/>
              <a:defRPr sz="3305"/>
            </a:lvl4pPr>
            <a:lvl5pPr marL="6720205" indent="0">
              <a:buNone/>
              <a:defRPr sz="3305"/>
            </a:lvl5pPr>
            <a:lvl6pPr marL="8399780" indent="0">
              <a:buNone/>
              <a:defRPr sz="3305"/>
            </a:lvl6pPr>
            <a:lvl7pPr marL="10079990" indent="0">
              <a:buNone/>
              <a:defRPr sz="3305"/>
            </a:lvl7pPr>
            <a:lvl8pPr marL="11760200" indent="0">
              <a:buNone/>
              <a:defRPr sz="3305"/>
            </a:lvl8pPr>
            <a:lvl9pPr marL="13439775" indent="0">
              <a:buNone/>
              <a:defRPr sz="33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386" y="35280069"/>
            <a:ext cx="15120030" cy="4165017"/>
          </a:xfrm>
        </p:spPr>
        <p:txBody>
          <a:bodyPr anchor="b"/>
          <a:lstStyle>
            <a:lvl1pPr algn="l">
              <a:defRPr sz="73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9386" y="4503340"/>
            <a:ext cx="15120030" cy="30240060"/>
          </a:xfrm>
        </p:spPr>
        <p:txBody>
          <a:bodyPr/>
          <a:lstStyle>
            <a:lvl1pPr marL="0" indent="0">
              <a:buNone/>
              <a:defRPr sz="11760"/>
            </a:lvl1pPr>
            <a:lvl2pPr marL="1680210" indent="0">
              <a:buNone/>
              <a:defRPr sz="10290"/>
            </a:lvl2pPr>
            <a:lvl3pPr marL="3359785" indent="0">
              <a:buNone/>
              <a:defRPr sz="8820"/>
            </a:lvl3pPr>
            <a:lvl4pPr marL="5039995" indent="0">
              <a:buNone/>
              <a:defRPr sz="7350"/>
            </a:lvl4pPr>
            <a:lvl5pPr marL="6720205" indent="0">
              <a:buNone/>
              <a:defRPr sz="7350"/>
            </a:lvl5pPr>
            <a:lvl6pPr marL="8399780" indent="0">
              <a:buNone/>
              <a:defRPr sz="7350"/>
            </a:lvl6pPr>
            <a:lvl7pPr marL="10079990" indent="0">
              <a:buNone/>
              <a:defRPr sz="7350"/>
            </a:lvl7pPr>
            <a:lvl8pPr marL="11760200" indent="0">
              <a:buNone/>
              <a:defRPr sz="7350"/>
            </a:lvl8pPr>
            <a:lvl9pPr marL="13439775" indent="0">
              <a:buNone/>
              <a:defRPr sz="73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9386" y="39445076"/>
            <a:ext cx="15120030" cy="5915013"/>
          </a:xfrm>
        </p:spPr>
        <p:txBody>
          <a:bodyPr/>
          <a:lstStyle>
            <a:lvl1pPr marL="0" indent="0">
              <a:buNone/>
              <a:defRPr sz="5145"/>
            </a:lvl1pPr>
            <a:lvl2pPr marL="1680210" indent="0">
              <a:buNone/>
              <a:defRPr sz="4410"/>
            </a:lvl2pPr>
            <a:lvl3pPr marL="3359785" indent="0">
              <a:buNone/>
              <a:defRPr sz="3675"/>
            </a:lvl3pPr>
            <a:lvl4pPr marL="5039995" indent="0">
              <a:buNone/>
              <a:defRPr sz="3305"/>
            </a:lvl4pPr>
            <a:lvl5pPr marL="6720205" indent="0">
              <a:buNone/>
              <a:defRPr sz="3305"/>
            </a:lvl5pPr>
            <a:lvl6pPr marL="8399780" indent="0">
              <a:buNone/>
              <a:defRPr sz="3305"/>
            </a:lvl6pPr>
            <a:lvl7pPr marL="10079990" indent="0">
              <a:buNone/>
              <a:defRPr sz="3305"/>
            </a:lvl7pPr>
            <a:lvl8pPr marL="11760200" indent="0">
              <a:buNone/>
              <a:defRPr sz="3305"/>
            </a:lvl8pPr>
            <a:lvl9pPr marL="13439775" indent="0">
              <a:buNone/>
              <a:defRPr sz="33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0036" y="2018346"/>
            <a:ext cx="5670011" cy="4300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002" y="2018346"/>
            <a:ext cx="16590033" cy="4300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0002" y="2018346"/>
            <a:ext cx="22680045" cy="840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2" y="11760033"/>
            <a:ext cx="22680045" cy="3326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0002" y="46713430"/>
            <a:ext cx="5880012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0017" y="46713430"/>
            <a:ext cx="7980016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60036" y="46713430"/>
            <a:ext cx="5880012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359785" rtl="0" eaLnBrk="1" latinLnBrk="0" hangingPunct="1">
        <a:spcBef>
          <a:spcPct val="0"/>
        </a:spcBef>
        <a:buNone/>
        <a:defRPr sz="16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9840" indent="-1259840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729865" indent="-1050290" algn="l" defTabSz="3359785" rtl="0" eaLnBrk="1" latinLnBrk="0" hangingPunct="1">
        <a:spcBef>
          <a:spcPts val="365"/>
        </a:spcBef>
        <a:buFont typeface="Arial" panose="020B0604020202020204" pitchFamily="34" charset="0"/>
        <a:buChar char="–"/>
        <a:defRPr sz="10290" kern="1200">
          <a:solidFill>
            <a:schemeClr val="tx1"/>
          </a:solidFill>
          <a:latin typeface="+mn-lt"/>
          <a:ea typeface="+mn-ea"/>
          <a:cs typeface="+mn-cs"/>
        </a:defRPr>
      </a:lvl2pPr>
      <a:lvl3pPr marL="419989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3pPr>
      <a:lvl4pPr marL="588010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–"/>
        <a:defRPr sz="7350" kern="1200">
          <a:solidFill>
            <a:schemeClr val="tx1"/>
          </a:solidFill>
          <a:latin typeface="+mn-lt"/>
          <a:ea typeface="+mn-ea"/>
          <a:cs typeface="+mn-cs"/>
        </a:defRPr>
      </a:lvl4pPr>
      <a:lvl5pPr marL="756031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»"/>
        <a:defRPr sz="7350" kern="1200">
          <a:solidFill>
            <a:schemeClr val="tx1"/>
          </a:solidFill>
          <a:latin typeface="+mn-lt"/>
          <a:ea typeface="+mn-ea"/>
          <a:cs typeface="+mn-cs"/>
        </a:defRPr>
      </a:lvl5pPr>
      <a:lvl6pPr marL="923988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6pPr>
      <a:lvl7pPr marL="1092009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30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8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8021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2pPr>
      <a:lvl3pPr marL="335978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03999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672020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839978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07999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6020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343977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635"/>
            <a:ext cx="25198070" cy="503986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1F5B4E8-0C62-64D5-523B-879B9DB760FD}"/>
              </a:ext>
            </a:extLst>
          </p:cNvPr>
          <p:cNvSpPr txBox="1"/>
          <p:nvPr/>
        </p:nvSpPr>
        <p:spPr>
          <a:xfrm>
            <a:off x="5246370" y="3787775"/>
            <a:ext cx="1470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400" b="1">
                <a:solidFill>
                  <a:srgbClr val="1C2327"/>
                </a:solidFill>
                <a:latin typeface="Malgun Gothic"/>
              </a:rPr>
              <a:t>Upgraded Numerical Simulation Framework</a:t>
            </a:r>
            <a:endParaRPr lang="zh-CN" altLang="en-US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2C9550-7DAF-9B08-68FD-9E09FBAAD5AD}"/>
              </a:ext>
            </a:extLst>
          </p:cNvPr>
          <p:cNvSpPr txBox="1"/>
          <p:nvPr/>
        </p:nvSpPr>
        <p:spPr>
          <a:xfrm>
            <a:off x="5246370" y="4803438"/>
            <a:ext cx="1470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0">
                <a:solidFill>
                  <a:srgbClr val="5C6369"/>
                </a:solidFill>
                <a:latin typeface="Malgun Gothic"/>
              </a:rPr>
              <a:t>Yushuo Wang | Department of Mechanical Engineering, Tsinghua University</a:t>
            </a:r>
            <a:endParaRPr lang="zh-CN" altLang="en-US"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A52D19-44B5-D3B3-6DDE-D34C32BB69BF}"/>
              </a:ext>
            </a:extLst>
          </p:cNvPr>
          <p:cNvSpPr/>
          <p:nvPr/>
        </p:nvSpPr>
        <p:spPr>
          <a:xfrm>
            <a:off x="407987" y="6149975"/>
            <a:ext cx="11963400" cy="39446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DB069C-1F51-A63A-9477-7000E17F9218}"/>
              </a:ext>
            </a:extLst>
          </p:cNvPr>
          <p:cNvSpPr/>
          <p:nvPr/>
        </p:nvSpPr>
        <p:spPr>
          <a:xfrm>
            <a:off x="12828589" y="6149975"/>
            <a:ext cx="11929108" cy="39446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D4769-A88D-5030-6B38-FE2CEC3019C9}"/>
              </a:ext>
            </a:extLst>
          </p:cNvPr>
          <p:cNvSpPr txBox="1"/>
          <p:nvPr/>
        </p:nvSpPr>
        <p:spPr>
          <a:xfrm>
            <a:off x="788987" y="6276162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b="1">
                <a:solidFill>
                  <a:srgbClr val="1F629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Problem Statement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7E309D-A351-4442-747C-1F3A62AE8107}"/>
              </a:ext>
            </a:extLst>
          </p:cNvPr>
          <p:cNvSpPr txBox="1"/>
          <p:nvPr/>
        </p:nvSpPr>
        <p:spPr>
          <a:xfrm>
            <a:off x="788987" y="24876809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b="1">
                <a:solidFill>
                  <a:srgbClr val="1F629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Literature Review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E524F7-6515-40D9-0477-105D02A32491}"/>
              </a:ext>
            </a:extLst>
          </p:cNvPr>
          <p:cNvSpPr txBox="1"/>
          <p:nvPr/>
        </p:nvSpPr>
        <p:spPr>
          <a:xfrm>
            <a:off x="13189109" y="6299617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b="1">
                <a:solidFill>
                  <a:srgbClr val="1F629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Methodology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7C94A5-7D91-1227-1BC2-5E023460B080}"/>
              </a:ext>
            </a:extLst>
          </p:cNvPr>
          <p:cNvSpPr txBox="1"/>
          <p:nvPr/>
        </p:nvSpPr>
        <p:spPr>
          <a:xfrm>
            <a:off x="13189109" y="20246975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b="1">
                <a:solidFill>
                  <a:srgbClr val="1F629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Experimental Results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1F9E91-0586-8DFC-CB6C-F4E5159DFA26}"/>
              </a:ext>
            </a:extLst>
          </p:cNvPr>
          <p:cNvSpPr txBox="1"/>
          <p:nvPr/>
        </p:nvSpPr>
        <p:spPr>
          <a:xfrm>
            <a:off x="13189109" y="39220775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b="1">
                <a:solidFill>
                  <a:srgbClr val="1F629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Conclusion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6903720"/>
            <a:ext cx="1078992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1C2327"/>
                </a:solidFill>
                <a:latin typeface="Malgun Gothic"/>
              </a:rPr>
              <a:t>Geometric playback can show the free-space synergy posture, but it cannot answer how a hand evolves under inertia, force input, constraints, and numerical integration. The project therefore upgrades the origami-hand simulator from direct qpos assignment to a MuJoCo mj_step pipeline driven by .ohd simulation definitions.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9464040"/>
            <a:ext cx="3246120" cy="2011680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9646920"/>
            <a:ext cx="2926080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Input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.ohd hand model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time-varying drivers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distribution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9464040"/>
            <a:ext cx="3246120" cy="2011680"/>
          </a:xfrm>
          <a:prstGeom prst="roundRect">
            <a:avLst/>
          </a:prstGeom>
          <a:solidFill>
            <a:srgbClr val="FCF1E5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9646920"/>
            <a:ext cx="2926080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Core Solver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q_ref or tau map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qfrc_applied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mj_step()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9464040"/>
            <a:ext cx="3246120" cy="2011680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9646920"/>
            <a:ext cx="2926080" cy="1554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Output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joint logs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rendered snapshots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geometry-vs-MuJoCo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2070080"/>
            <a:ext cx="10789920" cy="2377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C2327"/>
                </a:solidFill>
                <a:latin typeface="Malgun Gothic"/>
              </a:rPr>
              <a:t>Design constraints: no damper elements, no viscous or velocity-proportional damping, and no non-MuJoCo physics engine. Joint armature is allowed only as inertia scaling for numerical stability.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5740360"/>
            <a:ext cx="10789920" cy="1325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C2327"/>
                </a:solidFill>
                <a:latin typeface="Malgun Gothic"/>
              </a:rPr>
              <a:t>SoftHand and SoftHand 2 model low-dimensional hand actuation through tendon transmission matrices. The useful no-damper subset is: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27477720"/>
            <a:ext cx="10652760" cy="379476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27752040"/>
            <a:ext cx="10058400" cy="3154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1C2327"/>
                </a:solidFill>
                <a:latin typeface="Malgun Gothic"/>
              </a:rPr>
              <a:t>q = S sigma</a:t>
            </a:r>
          </a:p>
          <a:p>
            <a:pPr algn="l"/>
            <a:r>
              <a:rPr sz="2000" b="0">
                <a:solidFill>
                  <a:srgbClr val="1C2327"/>
                </a:solidFill>
                <a:latin typeface="Malgun Gothic"/>
              </a:rPr>
              <a:t>R q = x</a:t>
            </a:r>
          </a:p>
          <a:p>
            <a:pPr algn="l"/>
            <a:r>
              <a:rPr sz="2000" b="0">
                <a:solidFill>
                  <a:srgbClr val="1C2327"/>
                </a:solidFill>
                <a:latin typeface="Malgun Gothic"/>
              </a:rPr>
              <a:t>tau = R^T tau_M</a:t>
            </a:r>
          </a:p>
          <a:p>
            <a:pPr algn="l"/>
            <a:r>
              <a:rPr sz="2000" b="0">
                <a:solidFill>
                  <a:srgbClr val="1C2327"/>
                </a:solidFill>
                <a:latin typeface="Malgun Gothic"/>
              </a:rPr>
              <a:t>q = E^{-1} R^T (R E^{-1} R^T)^{-1} x</a:t>
            </a:r>
          </a:p>
          <a:p>
            <a:pPr algn="l"/>
            <a:r>
              <a:rPr sz="2000" b="0">
                <a:solidFill>
                  <a:srgbClr val="1C2327"/>
                </a:solidFill>
                <a:latin typeface="Malgun Gothic"/>
              </a:rPr>
              <a:t>q = (S_A + S_B) sigma_c + (S_A - S_B) sigma_d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1866840"/>
            <a:ext cx="10789920" cy="4663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C2327"/>
                </a:solidFill>
                <a:latin typeface="Malgun Gothic"/>
              </a:rPr>
              <a:t>The implementation keeps the mapping idea but removes velocity-dependent sliding, viscous friction, and dynamic damper terms. Tendon routing in the .ohd file is converted into R_A and R_B, then into common and differential synergy directions. This preserves the mechanical-intelligence interpretation while giving MuJoCo responsibility for state integration.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6987480"/>
            <a:ext cx="10698480" cy="2834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C2327"/>
                </a:solidFill>
                <a:latin typeface="Malgun Gothic"/>
              </a:rPr>
              <a:t>Reusable code: OrigamiHandDesign, URDF/STL export, transmission_builder, and the Schur-complement synergy solver. Replaced code: the old geometry viewer that wrote qpos directly, and the older custom ODE path containing damping-related terms.</a:t>
            </a:r>
          </a:p>
        </p:txBody>
      </p:sp>
      <p:pic>
        <p:nvPicPr>
          <p:cNvPr id="27" name="Picture 26" descr="method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6903720"/>
            <a:ext cx="11109960" cy="401193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030200" y="13487400"/>
            <a:ext cx="11018520" cy="3200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1C2327"/>
                </a:solidFill>
                <a:latin typeface="Malgun Gothic"/>
              </a:rPr>
              <a:t>Implementation steps:</a:t>
            </a:r>
          </a:p>
          <a:p>
            <a:pPr algn="l"/>
            <a:r>
              <a:rPr sz="1600" b="0">
                <a:solidFill>
                  <a:srgbClr val="1C2327"/>
                </a:solidFill>
                <a:latin typeface="Malgun Gothic"/>
              </a:rPr>
              <a:t>1. Parse .ohd simulation block: model path, duration, dt, drivers, distribution, outputs.</a:t>
            </a:r>
          </a:p>
          <a:p>
            <a:pPr algn="l"/>
            <a:r>
              <a:rPr sz="1600" b="0">
                <a:solidFill>
                  <a:srgbClr val="1C2327"/>
                </a:solidFill>
                <a:latin typeface="Malgun Gothic"/>
              </a:rPr>
              <a:t>2. Convert URDF to a no-damping MJCF model and map URDF joints back to synergy indices.</a:t>
            </a:r>
          </a:p>
          <a:p>
            <a:pPr algn="l"/>
            <a:r>
              <a:rPr sz="1600" b="0">
                <a:solidFill>
                  <a:srgbClr val="1C2327"/>
                </a:solidFill>
                <a:latin typeface="Malgun Gothic"/>
              </a:rPr>
              <a:t>3. Interpolate driver inputs and compute q_ref or direct generalized force.</a:t>
            </a:r>
          </a:p>
          <a:p>
            <a:pPr algn="l"/>
            <a:r>
              <a:rPr sz="1600" b="0">
                <a:solidFill>
                  <a:srgbClr val="1C2327"/>
                </a:solidFill>
                <a:latin typeface="Malgun Gothic"/>
              </a:rPr>
              <a:t>4. Apply joint torques through qfrc_applied and advance MuJoCo with mj_step().</a:t>
            </a:r>
          </a:p>
        </p:txBody>
      </p:sp>
      <p:pic>
        <p:nvPicPr>
          <p:cNvPr id="29" name="Picture 28" descr="mujoco_sdas_step_t0.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0" y="20985480"/>
            <a:ext cx="5257800" cy="3696891"/>
          </a:xfrm>
          <a:prstGeom prst="rect">
            <a:avLst/>
          </a:prstGeom>
        </p:spPr>
      </p:pic>
      <p:pic>
        <p:nvPicPr>
          <p:cNvPr id="30" name="Picture 29" descr="mujoco_sdas_step_t1.0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0920" y="20985480"/>
            <a:ext cx="5257800" cy="369689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030200" y="24734520"/>
            <a:ext cx="52578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369"/>
                </a:solidFill>
                <a:latin typeface="Malgun Gothic"/>
              </a:rPr>
              <a:t>t = 0.350 s: common-mode closing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90920" y="24734520"/>
            <a:ext cx="525780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C6369"/>
                </a:solidFill>
                <a:latin typeface="Malgun Gothic"/>
              </a:rPr>
              <a:t>t = 1.050 s: differential input added</a:t>
            </a:r>
          </a:p>
        </p:txBody>
      </p:sp>
      <p:pic>
        <p:nvPicPr>
          <p:cNvPr id="33" name="Picture 32" descr="mujoco_sdas_step_geometry_vs_mujo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25648920"/>
            <a:ext cx="11018520" cy="708333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3030200" y="34701480"/>
            <a:ext cx="3429000" cy="2194560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13080" y="34930080"/>
            <a:ext cx="306324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600 steps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dt = 0.002 s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9 joints / 2 drivers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870680" y="34701480"/>
            <a:ext cx="3429000" cy="2194560"/>
          </a:xfrm>
          <a:prstGeom prst="roundRect">
            <a:avLst/>
          </a:prstGeom>
          <a:solidFill>
            <a:srgbClr val="FCF1E5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053560" y="34930080"/>
            <a:ext cx="306324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No damping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No damper XML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No velocity actuator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711160" y="34701480"/>
            <a:ext cx="3337560" cy="2194560"/>
          </a:xfrm>
          <a:prstGeom prst="roundRect">
            <a:avLst/>
          </a:prstGeom>
          <a:solidFill>
            <a:srgbClr val="E8F3F8"/>
          </a:solidFill>
          <a:ln w="12700">
            <a:solidFill>
              <a:srgbClr val="C8C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894040" y="34930080"/>
            <a:ext cx="297180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Verified distributions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SDAS/transmission</a:t>
            </a:r>
          </a:p>
          <a:p>
            <a:pPr algn="l"/>
            <a:r>
              <a:rPr sz="1500" b="0">
                <a:solidFill>
                  <a:srgbClr val="1C2327"/>
                </a:solidFill>
                <a:latin typeface="Malgun Gothic"/>
              </a:rPr>
              <a:t>joint/custom/endpoint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030200" y="39959280"/>
            <a:ext cx="10972800" cy="4572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C2327"/>
                </a:solidFill>
                <a:latin typeface="Malgun Gothic"/>
              </a:rPr>
              <a:t>The upgraded framework now supports .ohd-driven MuJoCo numerical simulation without damper or velocity-damping terms. Compared with the previous geometric viewer, the new path produces time histories, numerical states, rendered snapshots, and an explicit geometry-vs-MuJoCo comparison. The interface is extensible: users can switch the distribution matrix without changing the hand model.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0200" y="44897040"/>
            <a:ext cx="10972800" cy="1920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0">
                <a:solidFill>
                  <a:srgbClr val="1C2327"/>
                </a:solidFill>
                <a:latin typeface="Malgun Gothic"/>
              </a:rPr>
              <a:t>Next work: add calibrated contact objects, refine tendon-force input scaling, and use task-specific synergy extraction to generate task-specific routing plates.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平衡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13</Words>
  <Application>Microsoft Office PowerPoint</Application>
  <PresentationFormat>自定义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IIIS</dc:creator>
  <cp:lastModifiedBy>昌宇 胡</cp:lastModifiedBy>
  <cp:revision>91</cp:revision>
  <dcterms:created xsi:type="dcterms:W3CDTF">2006-08-16T00:00:00Z</dcterms:created>
  <dcterms:modified xsi:type="dcterms:W3CDTF">2026-05-23T12:23:31Z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34FABD016C6C4E9690A9762634A53895_13</vt:lpwstr>
  </property>
  <property fmtid="{D5CDD505-2E9C-101B-9397-08002B2CF9AE}" pid="3" name="KSOProductBuildVer">
    <vt:lpwstr>2052-12.1.0.23542</vt:lpwstr>
  </property>
</Properties>
</file>